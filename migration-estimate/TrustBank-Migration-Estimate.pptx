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Screens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Simple</c:v>
                  </c:pt>
                  <c:pt idx="1">
                    <c:v>Medium</c:v>
                  </c:pt>
                  <c:pt idx="2">
                    <c:v>Complex</c:v>
                  </c:pt>
                  <c:pt idx="3">
                    <c:v>Reports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121</c:v>
                </c:pt>
                <c:pt idx="1">
                  <c:v>751</c:v>
                </c:pt>
                <c:pt idx="2">
                  <c:v>187</c:v>
                </c:pt>
                <c:pt idx="3">
                  <c:v>399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Person-days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Optimistic</c:v>
                  </c:pt>
                  <c:pt idx="1">
                    <c:v>Likely</c:v>
                  </c:pt>
                  <c:pt idx="2">
                    <c:v>Pessimistic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7400</c:v>
                </c:pt>
                <c:pt idx="1">
                  <c:v>10550</c:v>
                </c:pt>
                <c:pt idx="2">
                  <c:v>14800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0.0&quot; yr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Lean — 15</c:v>
                  </c:pt>
                  <c:pt idx="1">
                    <c:v>Balanced — 20</c:v>
                  </c:pt>
                  <c:pt idx="2">
                    <c:v>Accelerated — 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3.2</c:v>
                </c:pt>
                <c:pt idx="1">
                  <c:v>2.4</c:v>
                </c:pt>
                <c:pt idx="2">
                  <c:v>1.9</c:v>
                </c:pt>
              </c:numCache>
            </c:numRef>
          </c:val>
        </c:ser>
        <c:dLbls>
          <c:numFmt formatCode="0.0&quot; yr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BANKING SYSTEM MODERNISATION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Legacy CBS → .NET 10 Migration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Effort, timeline and phasing — estimate for management review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~10,550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 person-days</a:t>
            </a:r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  ~2.5–3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 years</a:t>
            </a:r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  ~20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 team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17 June 2026  ·  Basis: automated scan of the legacy codebase + measured velocity from six delivered pilot screens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large system — but the hard foundation is already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647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~10,550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563978"/>
            <a:ext cx="2331720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person-days likely (~48 person-years)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17647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~2.5–3 yr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38728" y="2563978"/>
            <a:ext cx="2331720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delivery window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63056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4496" y="17647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00216" y="2563978"/>
            <a:ext cx="2331720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 team (dev / QA / BA / PM)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24544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15984" y="17647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0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done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061704" y="2563978"/>
            <a:ext cx="2331720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+ 6 pilot screens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429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is real: 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1,458 web screens, ~890 report definitions and 5,317 stored procedures move to the new .NET 10 / C# MVC platform.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in place (excluded from build figures): 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framework, authentication / session, menu + fail-closed access control, multi-database data layer, a library of reusable UI components, and a repeatable per-screen migration recipe — proven on six delivered screens. This foundation is typically 15–20% of such a programme and materially de-risks delivery.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5074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Strangler-fig approach 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cut over module-by-module, delivering value early with no big-bang. This is a ROM estimate (±40%); a 4–6 week discovery would firm it to ~±15%.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TrustBank CBS  ·  Migration Estimate (ROM ±40%)  ·  Confidential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3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MEASURED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Counted from an automated scan of the legacy source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56232"/>
            <a:ext cx="2148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1,458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77240" y="2400300"/>
            <a:ext cx="2057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ASPX screens (total)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36392" y="169164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27832" y="1856232"/>
            <a:ext cx="2148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1,059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3273552" y="2400300"/>
            <a:ext cx="2057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(non-report) screens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999232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163824"/>
            <a:ext cx="2148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399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77240" y="3707892"/>
            <a:ext cx="2057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screens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36392" y="2999232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27832" y="3163824"/>
            <a:ext cx="2148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5,317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3273552" y="3707892"/>
            <a:ext cx="2057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procedures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306824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4471416"/>
            <a:ext cx="2148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1,497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77240" y="5015484"/>
            <a:ext cx="2057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VB code-behind files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136392" y="4306824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27832" y="4471416"/>
            <a:ext cx="2148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3273552" y="5015484"/>
            <a:ext cx="2057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user controls (.ascx)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852160" y="15544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screens by complexity</a:t>
            </a:r>
            <a:endParaRPr lang="en-US" sz="14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5852160" y="1920240"/>
          <a:ext cx="5760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modules by screen count:  RetailBanking 667  ·  Reports 362  ·  HO 203  ·  Reconciliation 74  ·  Inventory 23  ·  HR / Helpdesk / EmployeeDemand 21 each  ·  Lockers 15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TrustBank CBS  ·  Migration Estimate (ROM ±40%)  ·  Confidential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3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EFFORT BREAKDOWN — LIKELY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Bottom-up, calibrated to the six screens already delivered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6492240"/>
                <a:gridCol w="1188720"/>
                <a:gridCol w="1371600"/>
                <a:gridCol w="18288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Workstream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(pd)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Effort (pd)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 screens (masters, config, lookups, inquiries)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screens (search/list, multi-tab, dependent pickers)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 screens (transactions, maker-checker, batch)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Reports (re-implement)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Reporting platform setup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engine procedures (interest, GL, day-end, clearing)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migration + parallel-run tooling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 remaining + cross-provider hardening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subtotal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6,934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 + UAT (30% of build)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/ BA / DevOps / training / docs (20%)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1,387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review + performance hardening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— likely  (~48 person-years)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~10,550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TrustBank CBS  ·  Migration Estimate (ROM ±40%)  ·  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3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ESTIMATE RANGE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number could land — and what drives it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48463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783080"/>
            <a:ext cx="5669280" cy="1207008"/>
          </a:xfrm>
          <a:prstGeom prst="roundRect">
            <a:avLst>
              <a:gd name="adj" fmla="val 4545"/>
            </a:avLst>
          </a:prstGeom>
          <a:solidFill>
            <a:srgbClr val="F4F7FC"/>
          </a:solidFill>
          <a:ln/>
        </p:spPr>
      </p:sp>
      <p:sp>
        <p:nvSpPr>
          <p:cNvPr id="6" name="Shape 3"/>
          <p:cNvSpPr/>
          <p:nvPr/>
        </p:nvSpPr>
        <p:spPr>
          <a:xfrm>
            <a:off x="5852160" y="1783080"/>
            <a:ext cx="91440" cy="12070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4"/>
          <p:cNvSpPr/>
          <p:nvPr/>
        </p:nvSpPr>
        <p:spPr>
          <a:xfrm>
            <a:off x="6080760" y="18928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   </a:t>
            </a:r>
            <a:pPr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~7,400 pd · ~34 PY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080760" y="2295144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database, reports rehosted, strong reuse, senior team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52160" y="3154680"/>
            <a:ext cx="5669280" cy="1207008"/>
          </a:xfrm>
          <a:prstGeom prst="roundRect">
            <a:avLst>
              <a:gd name="adj" fmla="val 4545"/>
            </a:avLst>
          </a:prstGeom>
          <a:solidFill>
            <a:srgbClr val="F4F7FC"/>
          </a:solidFill>
          <a:ln/>
        </p:spPr>
      </p:sp>
      <p:sp>
        <p:nvSpPr>
          <p:cNvPr id="10" name="Shape 7"/>
          <p:cNvSpPr/>
          <p:nvPr/>
        </p:nvSpPr>
        <p:spPr>
          <a:xfrm>
            <a:off x="5852160" y="3154680"/>
            <a:ext cx="91440" cy="1207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6080760" y="32644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  </a:t>
            </a:r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~10,550 pd · ~48 PY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080760" y="3666744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Multi-DB, reports re-implemented, normal parallel-run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852160" y="4526280"/>
            <a:ext cx="5669280" cy="1207008"/>
          </a:xfrm>
          <a:prstGeom prst="roundRect">
            <a:avLst>
              <a:gd name="adj" fmla="val 4545"/>
            </a:avLst>
          </a:prstGeom>
          <a:solidFill>
            <a:srgbClr val="F4F7FC"/>
          </a:solidFill>
          <a:ln/>
        </p:spPr>
      </p:sp>
      <p:sp>
        <p:nvSpPr>
          <p:cNvPr id="14" name="Shape 11"/>
          <p:cNvSpPr/>
          <p:nvPr/>
        </p:nvSpPr>
        <p:spPr>
          <a:xfrm>
            <a:off x="5852160" y="4526280"/>
            <a:ext cx="91440" cy="1207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6080760" y="46360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Pessimistic   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~14,800 pd · ~67 PY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080760" y="5038344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Multi-DB hardening, full report rebuild, deep parallel-run, scope growth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TrustBank CBS  ·  Migration Estimate (ROM ±40%)  ·  Confidential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3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INDICATIVE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Calendar = likely effort ÷ (team × 220 productive days/yr)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132320" y="1874520"/>
            <a:ext cx="438912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223760" y="2039112"/>
            <a:ext cx="420624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~2.4 years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269480" y="2923337"/>
            <a:ext cx="4114800" cy="57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team of ~20 (recommended)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132320" y="37947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ramp-up and final UAT / cutover. 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realistic planning window is </a:t>
            </a:r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~2.5–3 years at ~20 people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0" y="48006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people shortens the calendar but raises coordination cost; ~20 balances throughput and onboarding.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TrustBank CBS  ·  Migration Estimate (ROM ±40%)  · 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3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PHASED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Strangler-fig — module-by-module, value delivered early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05456" cy="1828800"/>
          </a:xfrm>
          <a:prstGeom prst="roundRect">
            <a:avLst>
              <a:gd name="adj" fmla="val 3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65960"/>
            <a:ext cx="512064" cy="512064"/>
          </a:xfrm>
          <a:prstGeom prst="ellipse">
            <a:avLst/>
          </a:prstGeom>
          <a:solidFill>
            <a:srgbClr val="2E7D5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231136" y="20025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408176" y="196596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08176" y="219456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Framework, reusable components, pilot screens, recipe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15284" y="1783080"/>
            <a:ext cx="2505456" cy="1828800"/>
          </a:xfrm>
          <a:prstGeom prst="roundRect">
            <a:avLst>
              <a:gd name="adj" fmla="val 3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79876" y="1965960"/>
            <a:ext cx="512064" cy="51206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3579876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183380" y="196596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83380" y="219456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98164" y="274320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Screen-by-screen inventory → firm estimate to ±15% (4–6 wks)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90488" y="1783080"/>
            <a:ext cx="2505456" cy="1828800"/>
          </a:xfrm>
          <a:prstGeom prst="roundRect">
            <a:avLst>
              <a:gd name="adj" fmla="val 3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1965960"/>
            <a:ext cx="512064" cy="51206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958584" y="196596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958584" y="219456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Masters &amp; config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73368" y="274320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HO, Config, Lockers, HR — quick wins, prove velocity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65692" y="1783080"/>
            <a:ext cx="2505456" cy="1828800"/>
          </a:xfrm>
          <a:prstGeom prst="roundRect">
            <a:avLst>
              <a:gd name="adj" fmla="val 3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30284" y="1965960"/>
            <a:ext cx="512064" cy="51206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5" name="Text 23"/>
          <p:cNvSpPr/>
          <p:nvPr/>
        </p:nvSpPr>
        <p:spPr>
          <a:xfrm>
            <a:off x="9130284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733788" y="196596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733788" y="219456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platform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8572" y="274320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engine + reports (parallel workstream)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3886200"/>
            <a:ext cx="2505456" cy="1828800"/>
          </a:xfrm>
          <a:prstGeom prst="roundRect">
            <a:avLst>
              <a:gd name="adj" fmla="val 3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" y="40690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" y="4069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1408176" y="40690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408176" y="429768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RetailBanking txns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" y="484632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bulk: deposits → loans → clearing → cash → day-end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15284" y="3886200"/>
            <a:ext cx="2505456" cy="1828800"/>
          </a:xfrm>
          <a:prstGeom prst="roundRect">
            <a:avLst>
              <a:gd name="adj" fmla="val 3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579876" y="4069080"/>
            <a:ext cx="512064" cy="51206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7" name="Text 35"/>
          <p:cNvSpPr/>
          <p:nvPr/>
        </p:nvSpPr>
        <p:spPr>
          <a:xfrm>
            <a:off x="3579876" y="4069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4183380" y="40690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183380" y="429768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modules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598164" y="484632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Reconciliation, Inventory, Helpdesk, Customer360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90488" y="3886200"/>
            <a:ext cx="2505456" cy="1828800"/>
          </a:xfrm>
          <a:prstGeom prst="roundRect">
            <a:avLst>
              <a:gd name="adj" fmla="val 3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55080" y="40690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6355080" y="4069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6958584" y="40690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958584" y="429768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&amp; cut over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373368" y="484632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migration, parallel run, cutover, hardening, training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TrustBank CBS  ·  Migration Estimate (ROM ±40%)  ·  Confidential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3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KEY RISKS &amp; COST DRIVERS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estimate swings — manage these deliberately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078992"/>
          </a:xfrm>
          <a:prstGeom prst="roundRect">
            <a:avLst>
              <a:gd name="adj" fmla="val 4237"/>
            </a:avLst>
          </a:prstGeom>
          <a:solidFill>
            <a:srgbClr val="F4F7FC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84248"/>
            <a:ext cx="493776" cy="49377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842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83794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target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185416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Raw-SQL screens use SQL-Server dialect. A single-DB target removes ~120–150 pd and de-risks delivery; multi-provider (Oracle / PostgreSQL) adds hardening.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1088136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172968"/>
            <a:ext cx="493776" cy="493776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729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02666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Reports: rehost vs rebuild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3374136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362 report screens + 892 definitions. The rehost-vs-rebuild decision swings the total by ~500–700 pd — the single biggest lever.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10881360" cy="1078992"/>
          </a:xfrm>
          <a:prstGeom prst="roundRect">
            <a:avLst>
              <a:gd name="adj" fmla="val 4237"/>
            </a:avLst>
          </a:prstGeom>
          <a:solidFill>
            <a:srgbClr val="F4F7FC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361688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616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2153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5,317 stored procedures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4562856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embedded logic (interest, GL, day-end). The highest-risk, highest-value engines — need senior attention and rigorous parallel-run validation.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257800"/>
            <a:ext cx="1088136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550408"/>
            <a:ext cx="493776" cy="493776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5504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54041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correctness &amp; compliance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5751576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and likely regulator sign-off mandate extended UAT and parallel running before each cutover.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TrustBank CBS  ·  Migration Estimate (ROM ±40%)  · 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3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a 4–6 week discovery phase now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converts this ROM into a committed plan (±15%): it confirms per-screen complexity in the attached inventory, settles the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database-target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decisions, and produces a firm Phase-1 budget — all before any large build commitment.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3383280" cy="1783080"/>
          </a:xfrm>
          <a:prstGeom prst="roundRect">
            <a:avLst>
              <a:gd name="adj" fmla="val 3590"/>
            </a:avLst>
          </a:prstGeom>
          <a:solidFill>
            <a:srgbClr val="2A3A6E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3611880"/>
            <a:ext cx="3383280" cy="822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3822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Low-risk start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422452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foundation + 6 delivered screens; the team begins migrating in Phase 2 immediately after discovery.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16552" y="3611880"/>
            <a:ext cx="3383280" cy="1783080"/>
          </a:xfrm>
          <a:prstGeom prst="roundRect">
            <a:avLst>
              <a:gd name="adj" fmla="val 3590"/>
            </a:avLst>
          </a:prstGeom>
          <a:solidFill>
            <a:srgbClr val="2A3A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16552" y="3611880"/>
            <a:ext cx="3383280" cy="822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3822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value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422452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Strangler-fig cutover, module-by-module — no big-bang, benefits realised throughout.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0144" y="3611880"/>
            <a:ext cx="3383280" cy="1783080"/>
          </a:xfrm>
          <a:prstGeom prst="roundRect">
            <a:avLst>
              <a:gd name="adj" fmla="val 3590"/>
            </a:avLst>
          </a:prstGeom>
          <a:solidFill>
            <a:srgbClr val="2A3A6E"/>
          </a:solidFill>
          <a:ln/>
        </p:spPr>
      </p:sp>
      <p:sp>
        <p:nvSpPr>
          <p:cNvPr id="15" name="Shape 13"/>
          <p:cNvSpPr/>
          <p:nvPr/>
        </p:nvSpPr>
        <p:spPr>
          <a:xfrm>
            <a:off x="8010144" y="3611880"/>
            <a:ext cx="3383280" cy="822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8211312" y="3822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Decision-ready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11312" y="422452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workbook + full 1,458-screen inventory accompany this deck for due diligence.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pack:  TrustBank-Migration-Estimate.docx (full report)  ·  TrustBank-Migration-Estimate.xlsx (editable assumptions + 1,458-screen inventory)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Legacy CBS → .NET 10 Migration — Management Estimate</dc:title>
  <dc:subject>PptxGenJS Presentation</dc:subject>
  <dc:creator>TrustBank CBS Migration</dc:creator>
  <cp:lastModifiedBy>TrustBank CBS Migration</cp:lastModifiedBy>
  <cp:revision>1</cp:revision>
  <dcterms:created xsi:type="dcterms:W3CDTF">2026-06-17T11:44:28Z</dcterms:created>
  <dcterms:modified xsi:type="dcterms:W3CDTF">2026-06-17T11:44:28Z</dcterms:modified>
</cp:coreProperties>
</file>